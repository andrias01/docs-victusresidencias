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omments/modernComment_11B_A10C0D02.xml" ContentType="application/vnd.ms-powerpoint.comments+xml"/>
  <Override PartName="/ppt/comments/modernComment_119_98BD261.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83" r:id="rId6"/>
    <p:sldId id="273" r:id="rId7"/>
    <p:sldId id="276" r:id="rId8"/>
    <p:sldId id="284" r:id="rId9"/>
    <p:sldId id="275" r:id="rId10"/>
    <p:sldId id="274" r:id="rId11"/>
    <p:sldId id="277" r:id="rId12"/>
    <p:sldId id="279" r:id="rId13"/>
    <p:sldId id="285" r:id="rId14"/>
    <p:sldId id="280" r:id="rId15"/>
    <p:sldId id="281" r:id="rId16"/>
    <p:sldId id="282" r:id="rId17"/>
    <p:sldId id="28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E223E9-41FA-6C1A-B75C-8BEABAE94998}" name="Juan Pablo Avendano Duque" initials="JA" userId="S::juan.avendano1956@uco.net.co::a8ddac0e-3442-4e7c-a9e9-dc5fe139472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392C70-D534-DCD2-D05A-1E5DD3493AB2}" v="223" dt="2025-07-28T03:55:44.077"/>
    <p1510:client id="{0F5F8DE0-8F69-9B36-B1A9-C10D966778E6}" v="1118" dt="2025-07-29T21:15:37.853"/>
    <p1510:client id="{784C127A-CE28-2830-1AC6-82455F77B50E}" v="1806" dt="2025-07-28T02:46:28.819"/>
    <p1510:client id="{7AA35FBF-1597-4AEC-8ACC-A5E31CC6B0B0}" v="1841" dt="2025-07-28T03:41:19.891"/>
    <p1510:client id="{B351C56D-2910-CBBE-E57F-D4944836D5A4}" v="429" dt="2025-07-29T21:12:58.162"/>
    <p1510:client id="{C1E2E5DB-E1F6-51A5-213B-09259B88BA1C}" v="1" dt="2025-07-29T17:09:45.730"/>
    <p1510:client id="{DA0104AE-19D2-2FA1-0135-B518F7620BE6}" v="2" dt="2025-07-28T14:41:27.729"/>
    <p1510:client id="{F5225C84-B30F-1800-BAE3-AB4A7108E604}" v="57" dt="2025-07-29T21:12:19.0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omments/modernComment_11B_A10C0D02.xml><?xml version="1.0" encoding="utf-8"?>
<p188:cmLst xmlns:a="http://schemas.openxmlformats.org/drawingml/2006/main" xmlns:r="http://schemas.openxmlformats.org/officeDocument/2006/relationships" xmlns:p188="http://schemas.microsoft.com/office/powerpoint/2018/8/main">
  <p188:cm id="{DB46019F-4E3C-4FEF-9FBC-AC631746FA3C}" authorId="{8EE223E9-41FA-6C1A-B75C-8BEABAE94998}" created="2025-07-28T03:42:33.340">
    <pc:sldMkLst xmlns:pc="http://schemas.microsoft.com/office/powerpoint/2013/main/command">
      <pc:docMk/>
      <pc:sldMk cId="2701921538" sldId="283"/>
    </pc:sldMkLst>
    <p188:txBody>
      <a:bodyPr/>
      <a:lstStyle/>
      <a:p>
        <a:r>
          <a:rPr lang="es-CO"/>
          <a:t>Tenemos que definir muy bien lo que si y lo que no, yo me le mediría para ir por pagos y dejar documentado de una vez todas las ideas que harán de este producto algo único, sin embargo uno de los miedos es que sea demasiado grande, tenemos que hablarlo</a:t>
        </a:r>
      </a:p>
    </p188:txBody>
  </p188:cm>
</p188:cmLst>
</file>

<file path=ppt/comments/modernComment_119_98BD261.xml><?xml version="1.0" encoding="utf-8"?>
<p188:cmLst xmlns:a="http://schemas.openxmlformats.org/drawingml/2006/main" xmlns:r="http://schemas.openxmlformats.org/officeDocument/2006/relationships" xmlns:p188="http://schemas.microsoft.com/office/powerpoint/2018/8/main">
  <p188:cm id="{4673DE42-14A5-48FE-A477-205558F79396}" authorId="{8EE223E9-41FA-6C1A-B75C-8BEABAE94998}" created="2025-07-28T03:41:19.848">
    <pc:sldMkLst xmlns:pc="http://schemas.microsoft.com/office/powerpoint/2013/main/command">
      <pc:docMk/>
      <pc:sldMk cId="160158305" sldId="281"/>
    </pc:sldMkLst>
    <p188:txBody>
      <a:bodyPr/>
      <a:lstStyle/>
      <a:p>
        <a:r>
          <a:rPr lang="es-CO"/>
          <a:t>Versión clara y académica
"El modelo de negocio se basará en un pago mensual accesible, cuyo valor se verá reducido en función del número de cobros de administración procesados a través de la plataforma. Este esquema garantiza que el servicio pueda implementarse en conjuntos residenciales de distintos estratos socioeconómicos."
✅ Versión comercial (para pitch o presentación)
"Ofrecemos un plan mensual flexible cuyo costo se ajusta automáticamente según el volumen de pagos de administración realizados en la aplicación. Así, aseguramos que comunidades de todos los estratos puedan acceder a la plataforma sin barreras económicas."
✅ Versión técnica y de modelo de negocio
"El servicio operará bajo un esquema de suscripción mensual con una tarifa base deducible proporcionalmente al número de cobros de administración procesados. Este enfoque permite escalabilidad, sostenibilidad y accesibilidad para comunidades con diferentes capacidades de pago."
✅ Versión orientada a impacto social
"La plataforma se ofrecerá mediante un pago mensual cuyo valor disminuirá a medida que la comunidad utilice más el sistema para recaudar cuotas de administración. Este modelo fomenta la adopción y permite que conjuntos residenciales de estratos bajos también accedan a la tecnología."</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a:p>
        </p:txBody>
      </p:sp>
      <p:sp>
        <p:nvSpPr>
          <p:cNvPr id="4" name="Date Placeholder 3"/>
          <p:cNvSpPr>
            <a:spLocks noGrp="1"/>
          </p:cNvSpPr>
          <p:nvPr>
            <p:ph type="dt" sz="half" idx="10"/>
          </p:nvPr>
        </p:nvSpPr>
        <p:spPr/>
        <p:txBody>
          <a:bodyPr/>
          <a:lstStyle/>
          <a:p>
            <a:fld id="{A2CEB69A-D021-4BFD-8A54-5847922CC2DC}" type="datetimeFigureOut">
              <a:rPr lang="es-CO" smtClean="0"/>
              <a:t>29/07/2025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3E58AAF-1F71-419C-B2A9-DD2FBECA9957}" type="slidenum">
              <a:rPr lang="es-CO" smtClean="0"/>
              <a:t>‹#›</a:t>
            </a:fld>
            <a:endParaRPr lang="es-CO"/>
          </a:p>
        </p:txBody>
      </p:sp>
    </p:spTree>
    <p:extLst>
      <p:ext uri="{BB962C8B-B14F-4D97-AF65-F5344CB8AC3E}">
        <p14:creationId xmlns:p14="http://schemas.microsoft.com/office/powerpoint/2010/main" val="1123486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A2CEB69A-D021-4BFD-8A54-5847922CC2DC}" type="datetimeFigureOut">
              <a:rPr lang="es-CO" smtClean="0"/>
              <a:t>29/07/2025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3E58AAF-1F71-419C-B2A9-DD2FBECA9957}" type="slidenum">
              <a:rPr lang="es-CO" smtClean="0"/>
              <a:t>‹#›</a:t>
            </a:fld>
            <a:endParaRPr lang="es-CO"/>
          </a:p>
        </p:txBody>
      </p:sp>
    </p:spTree>
    <p:extLst>
      <p:ext uri="{BB962C8B-B14F-4D97-AF65-F5344CB8AC3E}">
        <p14:creationId xmlns:p14="http://schemas.microsoft.com/office/powerpoint/2010/main" val="204291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A2CEB69A-D021-4BFD-8A54-5847922CC2DC}" type="datetimeFigureOut">
              <a:rPr lang="es-CO" smtClean="0"/>
              <a:t>29/07/2025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3E58AAF-1F71-419C-B2A9-DD2FBECA9957}" type="slidenum">
              <a:rPr lang="es-CO" smtClean="0"/>
              <a:t>‹#›</a:t>
            </a:fld>
            <a:endParaRPr lang="es-CO"/>
          </a:p>
        </p:txBody>
      </p:sp>
    </p:spTree>
    <p:extLst>
      <p:ext uri="{BB962C8B-B14F-4D97-AF65-F5344CB8AC3E}">
        <p14:creationId xmlns:p14="http://schemas.microsoft.com/office/powerpoint/2010/main" val="1365537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sz="half" idx="1"/>
          </p:nvPr>
        </p:nvSpPr>
        <p:spPr>
          <a:xfrm>
            <a:off x="677334" y="2160589"/>
            <a:ext cx="4184035" cy="3880772"/>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Content Placeholder 3"/>
          <p:cNvSpPr>
            <a:spLocks noGrp="1"/>
          </p:cNvSpPr>
          <p:nvPr>
            <p:ph sz="half" idx="2"/>
          </p:nvPr>
        </p:nvSpPr>
        <p:spPr>
          <a:xfrm>
            <a:off x="5089970" y="2160589"/>
            <a:ext cx="4184034" cy="3880773"/>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Date Placeholder 4"/>
          <p:cNvSpPr>
            <a:spLocks noGrp="1"/>
          </p:cNvSpPr>
          <p:nvPr>
            <p:ph type="dt" sz="half" idx="10"/>
          </p:nvPr>
        </p:nvSpPr>
        <p:spPr/>
        <p:txBody>
          <a:bodyPr/>
          <a:lstStyle/>
          <a:p>
            <a:fld id="{A2CEB69A-D021-4BFD-8A54-5847922CC2DC}" type="datetimeFigureOut">
              <a:rPr lang="es-CO" smtClean="0"/>
              <a:t>29/07/2025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3E58AAF-1F71-419C-B2A9-DD2FBECA9957}" type="slidenum">
              <a:rPr lang="es-CO" smtClean="0"/>
              <a:t>‹#›</a:t>
            </a:fld>
            <a:endParaRPr lang="es-CO"/>
          </a:p>
        </p:txBody>
      </p:sp>
    </p:spTree>
    <p:extLst>
      <p:ext uri="{BB962C8B-B14F-4D97-AF65-F5344CB8AC3E}">
        <p14:creationId xmlns:p14="http://schemas.microsoft.com/office/powerpoint/2010/main" val="97629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A2CEB69A-D021-4BFD-8A54-5847922CC2DC}" type="datetimeFigureOut">
              <a:rPr lang="es-CO" smtClean="0"/>
              <a:t>29/07/2025</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43E58AAF-1F71-419C-B2A9-DD2FBECA9957}" type="slidenum">
              <a:rPr lang="es-CO" smtClean="0"/>
              <a:t>‹#›</a:t>
            </a:fld>
            <a:endParaRPr lang="es-CO"/>
          </a:p>
        </p:txBody>
      </p:sp>
    </p:spTree>
    <p:extLst>
      <p:ext uri="{BB962C8B-B14F-4D97-AF65-F5344CB8AC3E}">
        <p14:creationId xmlns:p14="http://schemas.microsoft.com/office/powerpoint/2010/main" val="3534274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A2CEB69A-D021-4BFD-8A54-5847922CC2DC}" type="datetimeFigureOut">
              <a:rPr lang="es-CO" smtClean="0"/>
              <a:t>29/07/2025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43E58AAF-1F71-419C-B2A9-DD2FBECA9957}" type="slidenum">
              <a:rPr lang="es-CO" smtClean="0"/>
              <a:t>‹#›</a:t>
            </a:fld>
            <a:endParaRPr lang="es-CO"/>
          </a:p>
        </p:txBody>
      </p:sp>
    </p:spTree>
    <p:extLst>
      <p:ext uri="{BB962C8B-B14F-4D97-AF65-F5344CB8AC3E}">
        <p14:creationId xmlns:p14="http://schemas.microsoft.com/office/powerpoint/2010/main" val="623362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CEB69A-D021-4BFD-8A54-5847922CC2DC}" type="datetimeFigureOut">
              <a:rPr lang="es-CO" smtClean="0"/>
              <a:t>29/07/2025</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43E58AAF-1F71-419C-B2A9-DD2FBECA9957}" type="slidenum">
              <a:rPr lang="es-CO" smtClean="0"/>
              <a:t>‹#›</a:t>
            </a:fld>
            <a:endParaRPr lang="es-CO"/>
          </a:p>
        </p:txBody>
      </p:sp>
    </p:spTree>
    <p:extLst>
      <p:ext uri="{BB962C8B-B14F-4D97-AF65-F5344CB8AC3E}">
        <p14:creationId xmlns:p14="http://schemas.microsoft.com/office/powerpoint/2010/main" val="343977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a:p>
        </p:txBody>
      </p:sp>
      <p:sp>
        <p:nvSpPr>
          <p:cNvPr id="3" name="Content Placeholder 2"/>
          <p:cNvSpPr>
            <a:spLocks noGrp="1"/>
          </p:cNvSpPr>
          <p:nvPr>
            <p:ph idx="1"/>
          </p:nvPr>
        </p:nvSpPr>
        <p:spPr>
          <a:xfrm>
            <a:off x="4760461" y="514924"/>
            <a:ext cx="4513541" cy="552643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A2CEB69A-D021-4BFD-8A54-5847922CC2DC}" type="datetimeFigureOut">
              <a:rPr lang="es-CO" smtClean="0"/>
              <a:t>29/07/2025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3E58AAF-1F71-419C-B2A9-DD2FBECA9957}" type="slidenum">
              <a:rPr lang="es-CO" smtClean="0"/>
              <a:t>‹#›</a:t>
            </a:fld>
            <a:endParaRPr lang="es-CO"/>
          </a:p>
        </p:txBody>
      </p:sp>
    </p:spTree>
    <p:extLst>
      <p:ext uri="{BB962C8B-B14F-4D97-AF65-F5344CB8AC3E}">
        <p14:creationId xmlns:p14="http://schemas.microsoft.com/office/powerpoint/2010/main" val="3320396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A2CEB69A-D021-4BFD-8A54-5847922CC2DC}" type="datetimeFigureOut">
              <a:rPr lang="es-CO" smtClean="0"/>
              <a:t>29/07/2025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3E58AAF-1F71-419C-B2A9-DD2FBECA9957}" type="slidenum">
              <a:rPr lang="es-CO" smtClean="0"/>
              <a:t>‹#›</a:t>
            </a:fld>
            <a:endParaRPr lang="es-CO"/>
          </a:p>
        </p:txBody>
      </p:sp>
    </p:spTree>
    <p:extLst>
      <p:ext uri="{BB962C8B-B14F-4D97-AF65-F5344CB8AC3E}">
        <p14:creationId xmlns:p14="http://schemas.microsoft.com/office/powerpoint/2010/main" val="125190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A2CEB69A-D021-4BFD-8A54-5847922CC2DC}" type="datetimeFigureOut">
              <a:rPr lang="es-CO" smtClean="0"/>
              <a:t>29/07/2025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3E58AAF-1F71-419C-B2A9-DD2FBECA9957}" type="slidenum">
              <a:rPr lang="es-CO" smtClean="0"/>
              <a:t>‹#›</a:t>
            </a:fld>
            <a:endParaRPr lang="es-CO"/>
          </a:p>
        </p:txBody>
      </p:sp>
    </p:spTree>
    <p:extLst>
      <p:ext uri="{BB962C8B-B14F-4D97-AF65-F5344CB8AC3E}">
        <p14:creationId xmlns:p14="http://schemas.microsoft.com/office/powerpoint/2010/main" val="2515333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A2CEB69A-D021-4BFD-8A54-5847922CC2DC}" type="datetimeFigureOut">
              <a:rPr lang="es-CO" smtClean="0"/>
              <a:t>29/07/2025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3E58AAF-1F71-419C-B2A9-DD2FBECA9957}" type="slidenum">
              <a:rPr lang="es-CO" smtClean="0"/>
              <a:t>‹#›</a:t>
            </a:fld>
            <a:endParaRPr lang="es-CO"/>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6547005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A2CEB69A-D021-4BFD-8A54-5847922CC2DC}" type="datetimeFigureOut">
              <a:rPr lang="es-CO" smtClean="0"/>
              <a:t>29/07/2025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3E58AAF-1F71-419C-B2A9-DD2FBECA9957}" type="slidenum">
              <a:rPr lang="es-CO" smtClean="0"/>
              <a:t>‹#›</a:t>
            </a:fld>
            <a:endParaRPr lang="es-CO"/>
          </a:p>
        </p:txBody>
      </p:sp>
    </p:spTree>
    <p:extLst>
      <p:ext uri="{BB962C8B-B14F-4D97-AF65-F5344CB8AC3E}">
        <p14:creationId xmlns:p14="http://schemas.microsoft.com/office/powerpoint/2010/main" val="730334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A2CEB69A-D021-4BFD-8A54-5847922CC2DC}" type="datetimeFigureOut">
              <a:rPr lang="es-CO" smtClean="0"/>
              <a:t>29/07/2025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3E58AAF-1F71-419C-B2A9-DD2FBECA9957}" type="slidenum">
              <a:rPr lang="es-CO" smtClean="0"/>
              <a:t>‹#›</a:t>
            </a:fld>
            <a:endParaRPr lang="es-CO"/>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3719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A2CEB69A-D021-4BFD-8A54-5847922CC2DC}" type="datetimeFigureOut">
              <a:rPr lang="es-CO" smtClean="0"/>
              <a:t>29/07/2025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3E58AAF-1F71-419C-B2A9-DD2FBECA9957}" type="slidenum">
              <a:rPr lang="es-CO" smtClean="0"/>
              <a:t>‹#›</a:t>
            </a:fld>
            <a:endParaRPr lang="es-CO"/>
          </a:p>
        </p:txBody>
      </p:sp>
    </p:spTree>
    <p:extLst>
      <p:ext uri="{BB962C8B-B14F-4D97-AF65-F5344CB8AC3E}">
        <p14:creationId xmlns:p14="http://schemas.microsoft.com/office/powerpoint/2010/main" val="6026003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A2CEB69A-D021-4BFD-8A54-5847922CC2DC}" type="datetimeFigureOut">
              <a:rPr lang="es-CO" smtClean="0"/>
              <a:t>29/07/2025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3E58AAF-1F71-419C-B2A9-DD2FBECA9957}" type="slidenum">
              <a:rPr lang="es-CO" smtClean="0"/>
              <a:t>‹#›</a:t>
            </a:fld>
            <a:endParaRPr lang="es-CO"/>
          </a:p>
        </p:txBody>
      </p:sp>
    </p:spTree>
    <p:extLst>
      <p:ext uri="{BB962C8B-B14F-4D97-AF65-F5344CB8AC3E}">
        <p14:creationId xmlns:p14="http://schemas.microsoft.com/office/powerpoint/2010/main" val="1607005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A2CEB69A-D021-4BFD-8A54-5847922CC2DC}" type="datetimeFigureOut">
              <a:rPr lang="es-CO" smtClean="0"/>
              <a:t>29/07/2025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3E58AAF-1F71-419C-B2A9-DD2FBECA9957}" type="slidenum">
              <a:rPr lang="es-CO" smtClean="0"/>
              <a:t>‹#›</a:t>
            </a:fld>
            <a:endParaRPr lang="es-CO"/>
          </a:p>
        </p:txBody>
      </p:sp>
    </p:spTree>
    <p:extLst>
      <p:ext uri="{BB962C8B-B14F-4D97-AF65-F5344CB8AC3E}">
        <p14:creationId xmlns:p14="http://schemas.microsoft.com/office/powerpoint/2010/main" val="1784804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2CEB69A-D021-4BFD-8A54-5847922CC2DC}" type="datetimeFigureOut">
              <a:rPr lang="es-CO" smtClean="0"/>
              <a:t>29/07/2025</a:t>
            </a:fld>
            <a:endParaRPr lang="es-CO"/>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3E58AAF-1F71-419C-B2A9-DD2FBECA9957}" type="slidenum">
              <a:rPr lang="es-CO" smtClean="0"/>
              <a:t>‹#›</a:t>
            </a:fld>
            <a:endParaRPr lang="es-CO"/>
          </a:p>
        </p:txBody>
      </p:sp>
    </p:spTree>
    <p:extLst>
      <p:ext uri="{BB962C8B-B14F-4D97-AF65-F5344CB8AC3E}">
        <p14:creationId xmlns:p14="http://schemas.microsoft.com/office/powerpoint/2010/main" val="33685911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1B_A10C0D0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19_98BD26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B2B970-207E-4212-BD05-A91F69BAB272}"/>
              </a:ext>
            </a:extLst>
          </p:cNvPr>
          <p:cNvSpPr>
            <a:spLocks noGrp="1"/>
          </p:cNvSpPr>
          <p:nvPr>
            <p:ph type="ctrTitle"/>
          </p:nvPr>
        </p:nvSpPr>
        <p:spPr>
          <a:xfrm>
            <a:off x="5380563" y="1678665"/>
            <a:ext cx="3887839" cy="2372168"/>
          </a:xfrm>
        </p:spPr>
        <p:txBody>
          <a:bodyPr>
            <a:normAutofit/>
          </a:bodyPr>
          <a:lstStyle/>
          <a:p>
            <a:r>
              <a:rPr lang="es-CO"/>
              <a:t>Proyecto</a:t>
            </a:r>
          </a:p>
        </p:txBody>
      </p:sp>
      <p:sp>
        <p:nvSpPr>
          <p:cNvPr id="3" name="Subtítulo 2">
            <a:extLst>
              <a:ext uri="{FF2B5EF4-FFF2-40B4-BE49-F238E27FC236}">
                <a16:creationId xmlns:a16="http://schemas.microsoft.com/office/drawing/2014/main" id="{9FB690C5-F234-4EAD-941D-3013527615E3}"/>
              </a:ext>
            </a:extLst>
          </p:cNvPr>
          <p:cNvSpPr>
            <a:spLocks noGrp="1"/>
          </p:cNvSpPr>
          <p:nvPr>
            <p:ph type="subTitle" idx="1"/>
          </p:nvPr>
        </p:nvSpPr>
        <p:spPr>
          <a:xfrm>
            <a:off x="5380563" y="4050833"/>
            <a:ext cx="3893440" cy="1096899"/>
          </a:xfrm>
        </p:spPr>
        <p:txBody>
          <a:bodyPr>
            <a:normAutofit/>
          </a:bodyPr>
          <a:lstStyle/>
          <a:p>
            <a:r>
              <a:rPr lang="es-CO"/>
              <a:t>VICTUS residencias</a:t>
            </a:r>
          </a:p>
        </p:txBody>
      </p:sp>
      <p:pic>
        <p:nvPicPr>
          <p:cNvPr id="5" name="Imagen 4" descr="Logotipo&#10;&#10;El contenido generado por IA puede ser incorrecto.">
            <a:extLst>
              <a:ext uri="{FF2B5EF4-FFF2-40B4-BE49-F238E27FC236}">
                <a16:creationId xmlns:a16="http://schemas.microsoft.com/office/drawing/2014/main" id="{D8974126-5FB0-A4C0-16BE-69B43D02E5DC}"/>
              </a:ext>
            </a:extLst>
          </p:cNvPr>
          <p:cNvPicPr>
            <a:picLocks noChangeAspect="1"/>
          </p:cNvPicPr>
          <p:nvPr/>
        </p:nvPicPr>
        <p:blipFill>
          <a:blip r:embed="rId2"/>
          <a:srcRect l="816" t="18680" r="53490" b="22383"/>
          <a:stretch>
            <a:fillRect/>
          </a:stretch>
        </p:blipFill>
        <p:spPr>
          <a:xfrm>
            <a:off x="371659" y="982869"/>
            <a:ext cx="6746175" cy="4903311"/>
          </a:xfrm>
          <a:prstGeom prst="rect">
            <a:avLst/>
          </a:prstGeom>
        </p:spPr>
      </p:pic>
      <p:sp>
        <p:nvSpPr>
          <p:cNvPr id="6" name="CuadroTexto 5">
            <a:extLst>
              <a:ext uri="{FF2B5EF4-FFF2-40B4-BE49-F238E27FC236}">
                <a16:creationId xmlns:a16="http://schemas.microsoft.com/office/drawing/2014/main" id="{A76A42BA-7C79-9A2A-9943-FD9CCCFA6159}"/>
              </a:ext>
            </a:extLst>
          </p:cNvPr>
          <p:cNvSpPr txBox="1"/>
          <p:nvPr/>
        </p:nvSpPr>
        <p:spPr>
          <a:xfrm>
            <a:off x="6635554" y="4592973"/>
            <a:ext cx="307450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i="1">
                <a:latin typeface="Trebuchet MS"/>
                <a:ea typeface="Calibri"/>
                <a:cs typeface="Calibri"/>
              </a:rPr>
              <a:t>Miembros:</a:t>
            </a:r>
          </a:p>
          <a:p>
            <a:pPr marL="285750" indent="-285750">
              <a:buFont typeface="Wingdings"/>
              <a:buChar char="v"/>
            </a:pPr>
            <a:r>
              <a:rPr lang="es-ES" i="1">
                <a:latin typeface="Trebuchet MS"/>
                <a:ea typeface="Calibri"/>
                <a:cs typeface="Calibri"/>
              </a:rPr>
              <a:t>Juan Pablo Avendaño</a:t>
            </a:r>
          </a:p>
          <a:p>
            <a:pPr marL="285750" indent="-285750">
              <a:buFont typeface="Wingdings"/>
              <a:buChar char="v"/>
            </a:pPr>
            <a:r>
              <a:rPr lang="es-ES" i="1">
                <a:latin typeface="Trebuchet MS"/>
                <a:ea typeface="Calibri"/>
                <a:cs typeface="Calibri"/>
              </a:rPr>
              <a:t>Tomas </a:t>
            </a:r>
            <a:r>
              <a:rPr lang="es-ES" i="1" err="1">
                <a:latin typeface="Trebuchet MS"/>
                <a:ea typeface="Calibri"/>
                <a:cs typeface="Calibri"/>
              </a:rPr>
              <a:t>Gomez</a:t>
            </a:r>
            <a:r>
              <a:rPr lang="es-ES" i="1">
                <a:latin typeface="Trebuchet MS"/>
                <a:ea typeface="Calibri"/>
                <a:cs typeface="Calibri"/>
              </a:rPr>
              <a:t> Cifuentes</a:t>
            </a:r>
          </a:p>
          <a:p>
            <a:pPr marL="285750" indent="-285750">
              <a:buFont typeface="Wingdings"/>
              <a:buChar char="v"/>
            </a:pPr>
            <a:r>
              <a:rPr lang="es-ES" i="1" err="1">
                <a:solidFill>
                  <a:srgbClr val="000000"/>
                </a:solidFill>
                <a:latin typeface="Trebuchet MS"/>
                <a:ea typeface="Calibri"/>
                <a:cs typeface="Calibri"/>
              </a:rPr>
              <a:t>Andres</a:t>
            </a:r>
            <a:r>
              <a:rPr lang="es-ES" i="1">
                <a:latin typeface="Trebuchet MS"/>
                <a:ea typeface="Calibri"/>
                <a:cs typeface="Calibri"/>
              </a:rPr>
              <a:t> </a:t>
            </a:r>
            <a:r>
              <a:rPr lang="es-ES" i="1" err="1">
                <a:latin typeface="Trebuchet MS"/>
                <a:ea typeface="Calibri"/>
                <a:cs typeface="Calibri"/>
              </a:rPr>
              <a:t>Velez</a:t>
            </a:r>
            <a:r>
              <a:rPr lang="es-ES" i="1">
                <a:latin typeface="Trebuchet MS"/>
                <a:ea typeface="Calibri"/>
                <a:cs typeface="Calibri"/>
              </a:rPr>
              <a:t> Alcaraz</a:t>
            </a:r>
          </a:p>
          <a:p>
            <a:pPr marL="285750" indent="-285750">
              <a:buFont typeface="Wingdings"/>
              <a:buChar char="v"/>
            </a:pPr>
            <a:endParaRPr lang="es-ES"/>
          </a:p>
        </p:txBody>
      </p:sp>
    </p:spTree>
    <p:extLst>
      <p:ext uri="{BB962C8B-B14F-4D97-AF65-F5344CB8AC3E}">
        <p14:creationId xmlns:p14="http://schemas.microsoft.com/office/powerpoint/2010/main" val="1370177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B2B970-207E-4212-BD05-A91F69BAB272}"/>
              </a:ext>
            </a:extLst>
          </p:cNvPr>
          <p:cNvSpPr>
            <a:spLocks noGrp="1"/>
          </p:cNvSpPr>
          <p:nvPr>
            <p:ph type="title"/>
          </p:nvPr>
        </p:nvSpPr>
        <p:spPr>
          <a:xfrm>
            <a:off x="677335" y="609600"/>
            <a:ext cx="8596668" cy="665018"/>
          </a:xfrm>
        </p:spPr>
        <p:txBody>
          <a:bodyPr>
            <a:normAutofit fontScale="90000"/>
          </a:bodyPr>
          <a:lstStyle/>
          <a:p>
            <a:r>
              <a:rPr lang="es-CO"/>
              <a:t>¿Cuál es el objetivo del proyecto?</a:t>
            </a:r>
          </a:p>
        </p:txBody>
      </p:sp>
      <p:pic>
        <p:nvPicPr>
          <p:cNvPr id="6" name="Imagen 5">
            <a:extLst>
              <a:ext uri="{FF2B5EF4-FFF2-40B4-BE49-F238E27FC236}">
                <a16:creationId xmlns:a16="http://schemas.microsoft.com/office/drawing/2014/main" id="{91600940-FD34-DB49-D931-D527CA267633}"/>
              </a:ext>
            </a:extLst>
          </p:cNvPr>
          <p:cNvPicPr>
            <a:picLocks noChangeAspect="1"/>
          </p:cNvPicPr>
          <p:nvPr/>
        </p:nvPicPr>
        <p:blipFill>
          <a:blip r:embed="rId3"/>
          <a:stretch>
            <a:fillRect/>
          </a:stretch>
        </p:blipFill>
        <p:spPr>
          <a:xfrm>
            <a:off x="212912" y="1278332"/>
            <a:ext cx="11777383" cy="5500366"/>
          </a:xfrm>
          <a:prstGeom prst="rect">
            <a:avLst/>
          </a:prstGeom>
        </p:spPr>
      </p:pic>
    </p:spTree>
    <p:extLst>
      <p:ext uri="{BB962C8B-B14F-4D97-AF65-F5344CB8AC3E}">
        <p14:creationId xmlns:p14="http://schemas.microsoft.com/office/powerpoint/2010/main" val="2701921538"/>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B2B970-207E-4212-BD05-A91F69BAB272}"/>
              </a:ext>
            </a:extLst>
          </p:cNvPr>
          <p:cNvSpPr>
            <a:spLocks noGrp="1"/>
          </p:cNvSpPr>
          <p:nvPr>
            <p:ph type="title"/>
          </p:nvPr>
        </p:nvSpPr>
        <p:spPr>
          <a:xfrm>
            <a:off x="677335" y="138953"/>
            <a:ext cx="8596668" cy="665018"/>
          </a:xfrm>
        </p:spPr>
        <p:txBody>
          <a:bodyPr>
            <a:normAutofit fontScale="90000"/>
          </a:bodyPr>
          <a:lstStyle/>
          <a:p>
            <a:r>
              <a:rPr lang="es-CO"/>
              <a:t>¿Cuál es el problema a resolver?</a:t>
            </a:r>
          </a:p>
        </p:txBody>
      </p:sp>
      <p:pic>
        <p:nvPicPr>
          <p:cNvPr id="7" name="Imagen 6">
            <a:extLst>
              <a:ext uri="{FF2B5EF4-FFF2-40B4-BE49-F238E27FC236}">
                <a16:creationId xmlns:a16="http://schemas.microsoft.com/office/drawing/2014/main" id="{E39EB66D-500B-3F11-99E9-9845D68D9256}"/>
              </a:ext>
            </a:extLst>
          </p:cNvPr>
          <p:cNvPicPr>
            <a:picLocks noChangeAspect="1"/>
          </p:cNvPicPr>
          <p:nvPr/>
        </p:nvPicPr>
        <p:blipFill>
          <a:blip r:embed="rId2"/>
          <a:stretch>
            <a:fillRect/>
          </a:stretch>
        </p:blipFill>
        <p:spPr>
          <a:xfrm>
            <a:off x="246530" y="810169"/>
            <a:ext cx="11687736" cy="5921221"/>
          </a:xfrm>
          <a:prstGeom prst="rect">
            <a:avLst/>
          </a:prstGeom>
        </p:spPr>
      </p:pic>
    </p:spTree>
    <p:extLst>
      <p:ext uri="{BB962C8B-B14F-4D97-AF65-F5344CB8AC3E}">
        <p14:creationId xmlns:p14="http://schemas.microsoft.com/office/powerpoint/2010/main" val="3259392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10BE40E3-5550-4CDD-B4FD-387C33EBF1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5" name="Straight Connector 44">
              <a:extLst>
                <a:ext uri="{FF2B5EF4-FFF2-40B4-BE49-F238E27FC236}">
                  <a16:creationId xmlns:a16="http://schemas.microsoft.com/office/drawing/2014/main" id="{71A6B738-E50C-4653-B343-B9D6A5EA2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98768D6-B28C-40A3-B381-39306F5816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7" name="Rectangle 23">
              <a:extLst>
                <a:ext uri="{FF2B5EF4-FFF2-40B4-BE49-F238E27FC236}">
                  <a16:creationId xmlns:a16="http://schemas.microsoft.com/office/drawing/2014/main" id="{B27C15B9-7795-4321-AB30-DF1DEF65C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8" name="Rectangle 25">
              <a:extLst>
                <a:ext uri="{FF2B5EF4-FFF2-40B4-BE49-F238E27FC236}">
                  <a16:creationId xmlns:a16="http://schemas.microsoft.com/office/drawing/2014/main" id="{578EC957-1F3F-4C00-B023-C8725C217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9" name="Isosceles Triangle 48">
              <a:extLst>
                <a:ext uri="{FF2B5EF4-FFF2-40B4-BE49-F238E27FC236}">
                  <a16:creationId xmlns:a16="http://schemas.microsoft.com/office/drawing/2014/main" id="{3D642632-BBD5-46D6-A91D-9B2BF6821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50" name="Rectangle 27">
              <a:extLst>
                <a:ext uri="{FF2B5EF4-FFF2-40B4-BE49-F238E27FC236}">
                  <a16:creationId xmlns:a16="http://schemas.microsoft.com/office/drawing/2014/main" id="{BF9D518D-AFF5-4DE2-AEE2-0EC15479A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51" name="Rectangle 28">
              <a:extLst>
                <a:ext uri="{FF2B5EF4-FFF2-40B4-BE49-F238E27FC236}">
                  <a16:creationId xmlns:a16="http://schemas.microsoft.com/office/drawing/2014/main" id="{14EF979B-B00D-460C-BD56-7EEAFB7E0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52" name="Rectangle 29">
              <a:extLst>
                <a:ext uri="{FF2B5EF4-FFF2-40B4-BE49-F238E27FC236}">
                  <a16:creationId xmlns:a16="http://schemas.microsoft.com/office/drawing/2014/main" id="{3E40F9A1-6B82-400F-9397-26D1D36F1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53" name="Isosceles Triangle 52">
              <a:extLst>
                <a:ext uri="{FF2B5EF4-FFF2-40B4-BE49-F238E27FC236}">
                  <a16:creationId xmlns:a16="http://schemas.microsoft.com/office/drawing/2014/main" id="{2EF7DDF1-FF86-4CA4-B08B-8939557EB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54" name="Isosceles Triangle 53">
              <a:extLst>
                <a:ext uri="{FF2B5EF4-FFF2-40B4-BE49-F238E27FC236}">
                  <a16:creationId xmlns:a16="http://schemas.microsoft.com/office/drawing/2014/main" id="{6D7C1F89-72B2-4FDC-B9E2-04F52D5C5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pic>
        <p:nvPicPr>
          <p:cNvPr id="7" name="Imagen 6" descr="Imagen generada">
            <a:extLst>
              <a:ext uri="{FF2B5EF4-FFF2-40B4-BE49-F238E27FC236}">
                <a16:creationId xmlns:a16="http://schemas.microsoft.com/office/drawing/2014/main" id="{94753474-B83B-9AFA-F9D0-DADBC91FFE7D}"/>
              </a:ext>
            </a:extLst>
          </p:cNvPr>
          <p:cNvPicPr>
            <a:picLocks noChangeAspect="1"/>
          </p:cNvPicPr>
          <p:nvPr/>
        </p:nvPicPr>
        <p:blipFill>
          <a:blip r:embed="rId2"/>
          <a:srcRect r="-2" b="13431"/>
          <a:stretch>
            <a:fillRect/>
          </a:stretch>
        </p:blipFill>
        <p:spPr>
          <a:xfrm>
            <a:off x="3806028" y="-11044"/>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ítulo 1">
            <a:extLst>
              <a:ext uri="{FF2B5EF4-FFF2-40B4-BE49-F238E27FC236}">
                <a16:creationId xmlns:a16="http://schemas.microsoft.com/office/drawing/2014/main" id="{0EB2B970-207E-4212-BD05-A91F69BAB272}"/>
              </a:ext>
            </a:extLst>
          </p:cNvPr>
          <p:cNvSpPr>
            <a:spLocks noGrp="1"/>
          </p:cNvSpPr>
          <p:nvPr>
            <p:ph type="title"/>
          </p:nvPr>
        </p:nvSpPr>
        <p:spPr>
          <a:xfrm>
            <a:off x="677333" y="609600"/>
            <a:ext cx="3851123" cy="1320800"/>
          </a:xfrm>
        </p:spPr>
        <p:txBody>
          <a:bodyPr vert="horz" lIns="91440" tIns="45720" rIns="91440" bIns="45720" rtlCol="0" anchor="t">
            <a:normAutofit/>
          </a:bodyPr>
          <a:lstStyle/>
          <a:p>
            <a:pPr>
              <a:lnSpc>
                <a:spcPct val="90000"/>
              </a:lnSpc>
            </a:pPr>
            <a:r>
              <a:rPr lang="en-US" sz="2800"/>
              <a:t>¿Por qué un producto de software?</a:t>
            </a:r>
          </a:p>
        </p:txBody>
      </p:sp>
      <p:sp>
        <p:nvSpPr>
          <p:cNvPr id="3" name="Subtítulo 2">
            <a:extLst>
              <a:ext uri="{FF2B5EF4-FFF2-40B4-BE49-F238E27FC236}">
                <a16:creationId xmlns:a16="http://schemas.microsoft.com/office/drawing/2014/main" id="{9FB690C5-F234-4EAD-941D-3013527615E3}"/>
              </a:ext>
            </a:extLst>
          </p:cNvPr>
          <p:cNvSpPr>
            <a:spLocks noGrp="1"/>
          </p:cNvSpPr>
          <p:nvPr>
            <p:ph type="body" idx="1"/>
          </p:nvPr>
        </p:nvSpPr>
        <p:spPr>
          <a:xfrm>
            <a:off x="677334" y="2160589"/>
            <a:ext cx="3851122" cy="3880773"/>
          </a:xfrm>
        </p:spPr>
        <p:txBody>
          <a:bodyPr vert="horz" lIns="91440" tIns="45720" rIns="91440" bIns="45720" rtlCol="0">
            <a:normAutofit/>
          </a:bodyPr>
          <a:lstStyle/>
          <a:p>
            <a:pPr>
              <a:buFont typeface="Wingdings 3" charset="2"/>
              <a:buChar char=""/>
            </a:pPr>
            <a:r>
              <a:rPr lang="en-US"/>
              <a:t>Muchos conjuntos residenciales aún cuentan con procesos manuales para agendar y gestionar zonas comunes, procesos que dan paso a confusiones y falta de agilidad a la hora de reservar, y verificar reservas, muchas aún tienen que comunicarse directamente con portería o administración para realizar esta verificación.</a:t>
            </a:r>
          </a:p>
          <a:p>
            <a:pPr>
              <a:buFont typeface="Wingdings 3" charset="2"/>
              <a:buChar char=""/>
            </a:pPr>
            <a:endParaRPr lang="en-US"/>
          </a:p>
        </p:txBody>
      </p:sp>
      <p:cxnSp>
        <p:nvCxnSpPr>
          <p:cNvPr id="56" name="Straight Connector 55">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0"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2"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4"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66"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68"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0"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72"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4025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B2B970-207E-4212-BD05-A91F69BAB272}"/>
              </a:ext>
            </a:extLst>
          </p:cNvPr>
          <p:cNvSpPr>
            <a:spLocks noGrp="1"/>
          </p:cNvSpPr>
          <p:nvPr>
            <p:ph type="title"/>
          </p:nvPr>
        </p:nvSpPr>
        <p:spPr>
          <a:xfrm>
            <a:off x="677335" y="609600"/>
            <a:ext cx="8596668" cy="665018"/>
          </a:xfrm>
        </p:spPr>
        <p:txBody>
          <a:bodyPr>
            <a:normAutofit fontScale="90000"/>
          </a:bodyPr>
          <a:lstStyle/>
          <a:p>
            <a:r>
              <a:rPr lang="es-CO"/>
              <a:t>¿Qué otros productos existen similares al producto a construir y por qué no seleccionar uno de ellos?</a:t>
            </a:r>
          </a:p>
        </p:txBody>
      </p:sp>
      <p:sp>
        <p:nvSpPr>
          <p:cNvPr id="3" name="Subtítulo 2">
            <a:extLst>
              <a:ext uri="{FF2B5EF4-FFF2-40B4-BE49-F238E27FC236}">
                <a16:creationId xmlns:a16="http://schemas.microsoft.com/office/drawing/2014/main" id="{9FB690C5-F234-4EAD-941D-3013527615E3}"/>
              </a:ext>
            </a:extLst>
          </p:cNvPr>
          <p:cNvSpPr>
            <a:spLocks noGrp="1"/>
          </p:cNvSpPr>
          <p:nvPr>
            <p:ph type="body" idx="1"/>
          </p:nvPr>
        </p:nvSpPr>
        <p:spPr>
          <a:xfrm>
            <a:off x="312900" y="1824986"/>
            <a:ext cx="9601623" cy="4503507"/>
          </a:xfrm>
        </p:spPr>
        <p:txBody>
          <a:bodyPr vert="horz" lIns="91440" tIns="45720" rIns="91440" bIns="45720" rtlCol="0" anchor="ctr">
            <a:noAutofit/>
          </a:bodyPr>
          <a:lstStyle/>
          <a:p>
            <a:pPr marL="285750" indent="-285750">
              <a:buFont typeface="Wingdings" panose="05000000000000000000" pitchFamily="2" charset="2"/>
              <a:buChar char="q"/>
            </a:pPr>
            <a:r>
              <a:rPr lang="es-CO" sz="2400"/>
              <a:t>Aplicamos.co: Es un servicio de facturación para propiedades horizontales, que cuenta con muchas facilidades a la hora de pagar, pero no tiene una estructura ágil para realizar reservas, además de que no cuenta con versión móvil.</a:t>
            </a:r>
          </a:p>
          <a:p>
            <a:pPr marL="285750" indent="-285750">
              <a:buFont typeface="Wingdings" panose="05000000000000000000" pitchFamily="2" charset="2"/>
              <a:buChar char="q"/>
            </a:pPr>
            <a:r>
              <a:rPr lang="es-CO" sz="2400"/>
              <a:t>Reservar Zona Comun.com: Es un servicio principalmente enfocado en la gestión de aforo y espacios, pero con enfoques más generales, no específicamente de propiedades horizontales.</a:t>
            </a:r>
          </a:p>
          <a:p>
            <a:pPr marL="285750" indent="-285750">
              <a:buFont typeface="Wingdings" panose="05000000000000000000" pitchFamily="2" charset="2"/>
              <a:buChar char="q"/>
            </a:pPr>
            <a:r>
              <a:rPr lang="es-CO" sz="2400"/>
              <a:t>Colindar.com: Es un servicio enfocado a propiedades horizontales, en la gestión de zonas comunes, pero es una plataforma europea, que cobra en euros y sus plataformas de pago son españolas.</a:t>
            </a:r>
          </a:p>
        </p:txBody>
      </p:sp>
    </p:spTree>
    <p:extLst>
      <p:ext uri="{BB962C8B-B14F-4D97-AF65-F5344CB8AC3E}">
        <p14:creationId xmlns:p14="http://schemas.microsoft.com/office/powerpoint/2010/main" val="3366250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10BE40E3-5550-4CDD-B4FD-387C33EBF1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3" name="Straight Connector 42">
              <a:extLst>
                <a:ext uri="{FF2B5EF4-FFF2-40B4-BE49-F238E27FC236}">
                  <a16:creationId xmlns:a16="http://schemas.microsoft.com/office/drawing/2014/main" id="{71A6B738-E50C-4653-B343-B9D6A5EA2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498768D6-B28C-40A3-B381-39306F5816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5" name="Rectangle 23">
              <a:extLst>
                <a:ext uri="{FF2B5EF4-FFF2-40B4-BE49-F238E27FC236}">
                  <a16:creationId xmlns:a16="http://schemas.microsoft.com/office/drawing/2014/main" id="{B27C15B9-7795-4321-AB30-DF1DEF65C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6" name="Rectangle 25">
              <a:extLst>
                <a:ext uri="{FF2B5EF4-FFF2-40B4-BE49-F238E27FC236}">
                  <a16:creationId xmlns:a16="http://schemas.microsoft.com/office/drawing/2014/main" id="{578EC957-1F3F-4C00-B023-C8725C217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7" name="Isosceles Triangle 46">
              <a:extLst>
                <a:ext uri="{FF2B5EF4-FFF2-40B4-BE49-F238E27FC236}">
                  <a16:creationId xmlns:a16="http://schemas.microsoft.com/office/drawing/2014/main" id="{3D642632-BBD5-46D6-A91D-9B2BF6821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48" name="Rectangle 27">
              <a:extLst>
                <a:ext uri="{FF2B5EF4-FFF2-40B4-BE49-F238E27FC236}">
                  <a16:creationId xmlns:a16="http://schemas.microsoft.com/office/drawing/2014/main" id="{BF9D518D-AFF5-4DE2-AEE2-0EC15479A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9" name="Rectangle 28">
              <a:extLst>
                <a:ext uri="{FF2B5EF4-FFF2-40B4-BE49-F238E27FC236}">
                  <a16:creationId xmlns:a16="http://schemas.microsoft.com/office/drawing/2014/main" id="{14EF979B-B00D-460C-BD56-7EEAFB7E0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50" name="Rectangle 29">
              <a:extLst>
                <a:ext uri="{FF2B5EF4-FFF2-40B4-BE49-F238E27FC236}">
                  <a16:creationId xmlns:a16="http://schemas.microsoft.com/office/drawing/2014/main" id="{3E40F9A1-6B82-400F-9397-26D1D36F1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51" name="Isosceles Triangle 50">
              <a:extLst>
                <a:ext uri="{FF2B5EF4-FFF2-40B4-BE49-F238E27FC236}">
                  <a16:creationId xmlns:a16="http://schemas.microsoft.com/office/drawing/2014/main" id="{2EF7DDF1-FF86-4CA4-B08B-8939557EB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52" name="Isosceles Triangle 51">
              <a:extLst>
                <a:ext uri="{FF2B5EF4-FFF2-40B4-BE49-F238E27FC236}">
                  <a16:creationId xmlns:a16="http://schemas.microsoft.com/office/drawing/2014/main" id="{6D7C1F89-72B2-4FDC-B9E2-04F52D5C5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0EB2B970-207E-4212-BD05-A91F69BAB272}"/>
              </a:ext>
            </a:extLst>
          </p:cNvPr>
          <p:cNvSpPr>
            <a:spLocks noGrp="1"/>
          </p:cNvSpPr>
          <p:nvPr>
            <p:ph type="title"/>
          </p:nvPr>
        </p:nvSpPr>
        <p:spPr>
          <a:xfrm>
            <a:off x="5536734" y="609600"/>
            <a:ext cx="3737268" cy="1320800"/>
          </a:xfrm>
        </p:spPr>
        <p:txBody>
          <a:bodyPr vert="horz" lIns="91440" tIns="45720" rIns="91440" bIns="45720" rtlCol="0" anchor="t">
            <a:normAutofit/>
          </a:bodyPr>
          <a:lstStyle/>
          <a:p>
            <a:r>
              <a:rPr lang="en-US" sz="3600"/>
              <a:t>¿Cuál es el público objetivo?</a:t>
            </a:r>
          </a:p>
        </p:txBody>
      </p:sp>
      <p:sp>
        <p:nvSpPr>
          <p:cNvPr id="3" name="Subtítulo 2">
            <a:extLst>
              <a:ext uri="{FF2B5EF4-FFF2-40B4-BE49-F238E27FC236}">
                <a16:creationId xmlns:a16="http://schemas.microsoft.com/office/drawing/2014/main" id="{9FB690C5-F234-4EAD-941D-3013527615E3}"/>
              </a:ext>
            </a:extLst>
          </p:cNvPr>
          <p:cNvSpPr>
            <a:spLocks noGrp="1"/>
          </p:cNvSpPr>
          <p:nvPr>
            <p:ph type="body" idx="1"/>
          </p:nvPr>
        </p:nvSpPr>
        <p:spPr>
          <a:xfrm>
            <a:off x="5220606" y="2105372"/>
            <a:ext cx="4064439" cy="3880773"/>
          </a:xfrm>
        </p:spPr>
        <p:txBody>
          <a:bodyPr vert="horz" lIns="91440" tIns="45720" rIns="91440" bIns="45720" rtlCol="0">
            <a:normAutofit/>
          </a:bodyPr>
          <a:lstStyle/>
          <a:p>
            <a:pPr>
              <a:buFont typeface="Wingdings 3" charset="2"/>
              <a:buChar char=""/>
            </a:pPr>
            <a:r>
              <a:rPr lang="en-US" sz="2400"/>
              <a:t>El </a:t>
            </a:r>
            <a:r>
              <a:rPr lang="en-US" sz="2400" err="1"/>
              <a:t>público</a:t>
            </a:r>
            <a:r>
              <a:rPr lang="en-US" sz="2400"/>
              <a:t> </a:t>
            </a:r>
            <a:r>
              <a:rPr lang="en-US" sz="2400" err="1"/>
              <a:t>objetivo</a:t>
            </a:r>
            <a:r>
              <a:rPr lang="en-US" sz="2400"/>
              <a:t> es para </a:t>
            </a:r>
            <a:r>
              <a:rPr lang="en-US" sz="2400" err="1"/>
              <a:t>aquellas</a:t>
            </a:r>
            <a:r>
              <a:rPr lang="en-US" sz="2400"/>
              <a:t> personas que </a:t>
            </a:r>
            <a:r>
              <a:rPr lang="en-US" sz="2400" err="1"/>
              <a:t>viven</a:t>
            </a:r>
            <a:r>
              <a:rPr lang="en-US" sz="2400"/>
              <a:t> </a:t>
            </a:r>
            <a:r>
              <a:rPr lang="en-US" sz="2400" err="1"/>
              <a:t>en</a:t>
            </a:r>
            <a:r>
              <a:rPr lang="en-US" sz="2400"/>
              <a:t> </a:t>
            </a:r>
            <a:r>
              <a:rPr lang="en-US" sz="2400" err="1"/>
              <a:t>unidades</a:t>
            </a:r>
            <a:r>
              <a:rPr lang="en-US" sz="2400"/>
              <a:t> </a:t>
            </a:r>
            <a:r>
              <a:rPr lang="en-US" sz="2400" err="1"/>
              <a:t>residenciales</a:t>
            </a:r>
            <a:r>
              <a:rPr lang="en-US" sz="2400"/>
              <a:t> </a:t>
            </a:r>
            <a:r>
              <a:rPr lang="en-US" sz="2400" err="1"/>
              <a:t>como</a:t>
            </a:r>
            <a:r>
              <a:rPr lang="en-US" sz="2400"/>
              <a:t> conjuntos, </a:t>
            </a:r>
            <a:r>
              <a:rPr lang="en-US" sz="2400" err="1"/>
              <a:t>edificio</a:t>
            </a:r>
            <a:r>
              <a:rPr lang="en-US" sz="2400"/>
              <a:t> y </a:t>
            </a:r>
            <a:r>
              <a:rPr lang="en-US" sz="2400" err="1"/>
              <a:t>condominios</a:t>
            </a:r>
            <a:r>
              <a:rPr lang="en-US" sz="2400"/>
              <a:t>. También para </a:t>
            </a:r>
            <a:r>
              <a:rPr lang="en-US" sz="2400" err="1"/>
              <a:t>los</a:t>
            </a:r>
            <a:r>
              <a:rPr lang="en-US" sz="2400"/>
              <a:t> </a:t>
            </a:r>
            <a:r>
              <a:rPr lang="en-US" sz="2400" err="1"/>
              <a:t>administradores</a:t>
            </a:r>
            <a:r>
              <a:rPr lang="en-US" sz="2400"/>
              <a:t> de </a:t>
            </a:r>
            <a:r>
              <a:rPr lang="en-US" sz="2400" err="1"/>
              <a:t>propiedades</a:t>
            </a:r>
            <a:r>
              <a:rPr lang="en-US" sz="2400"/>
              <a:t> </a:t>
            </a:r>
            <a:r>
              <a:rPr lang="en-US" sz="2400" err="1"/>
              <a:t>horizontales</a:t>
            </a:r>
            <a:r>
              <a:rPr lang="en-US" sz="2400"/>
              <a:t> y </a:t>
            </a:r>
            <a:r>
              <a:rPr lang="en-US" sz="2400" err="1"/>
              <a:t>porteros</a:t>
            </a:r>
            <a:endParaRPr lang="en-US" sz="2400"/>
          </a:p>
          <a:p>
            <a:pPr>
              <a:buFont typeface="Wingdings 3" charset="2"/>
              <a:buChar char=""/>
            </a:pPr>
            <a:endParaRPr lang="en-US"/>
          </a:p>
          <a:p>
            <a:pPr>
              <a:buFont typeface="Wingdings 3" charset="2"/>
              <a:buChar char=""/>
            </a:pPr>
            <a:endParaRPr lang="en-US"/>
          </a:p>
          <a:p>
            <a:pPr>
              <a:buFont typeface="Wingdings 3" charset="2"/>
              <a:buChar char=""/>
            </a:pPr>
            <a:endParaRPr lang="en-US"/>
          </a:p>
        </p:txBody>
      </p:sp>
      <p:pic>
        <p:nvPicPr>
          <p:cNvPr id="5" name="Imagen 4" descr="Imagen generada">
            <a:extLst>
              <a:ext uri="{FF2B5EF4-FFF2-40B4-BE49-F238E27FC236}">
                <a16:creationId xmlns:a16="http://schemas.microsoft.com/office/drawing/2014/main" id="{7E3F7590-D718-F98E-3D38-8EB847D37A5B}"/>
              </a:ext>
            </a:extLst>
          </p:cNvPr>
          <p:cNvPicPr>
            <a:picLocks noChangeAspect="1"/>
          </p:cNvPicPr>
          <p:nvPr/>
        </p:nvPicPr>
        <p:blipFill>
          <a:blip r:embed="rId2"/>
          <a:srcRect r="21334"/>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54" name="Isosceles Triangle 53">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32001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B2B970-207E-4212-BD05-A91F69BAB272}"/>
              </a:ext>
            </a:extLst>
          </p:cNvPr>
          <p:cNvSpPr>
            <a:spLocks noGrp="1"/>
          </p:cNvSpPr>
          <p:nvPr>
            <p:ph type="title"/>
          </p:nvPr>
        </p:nvSpPr>
        <p:spPr>
          <a:xfrm>
            <a:off x="677335" y="609600"/>
            <a:ext cx="8596668" cy="665018"/>
          </a:xfrm>
        </p:spPr>
        <p:txBody>
          <a:bodyPr>
            <a:normAutofit fontScale="90000"/>
          </a:bodyPr>
          <a:lstStyle/>
          <a:p>
            <a:r>
              <a:rPr lang="es-CO"/>
              <a:t>¿Qué se sueña el cliente cuando el software esté funcionando?</a:t>
            </a:r>
          </a:p>
        </p:txBody>
      </p:sp>
      <p:sp>
        <p:nvSpPr>
          <p:cNvPr id="3" name="Subtítulo 2">
            <a:extLst>
              <a:ext uri="{FF2B5EF4-FFF2-40B4-BE49-F238E27FC236}">
                <a16:creationId xmlns:a16="http://schemas.microsoft.com/office/drawing/2014/main" id="{9FB690C5-F234-4EAD-941D-3013527615E3}"/>
              </a:ext>
            </a:extLst>
          </p:cNvPr>
          <p:cNvSpPr>
            <a:spLocks noGrp="1"/>
          </p:cNvSpPr>
          <p:nvPr>
            <p:ph type="body" idx="1"/>
          </p:nvPr>
        </p:nvSpPr>
        <p:spPr>
          <a:xfrm>
            <a:off x="677335" y="1537855"/>
            <a:ext cx="8596668" cy="4503507"/>
          </a:xfrm>
        </p:spPr>
        <p:txBody>
          <a:bodyPr/>
          <a:lstStyle/>
          <a:p>
            <a:r>
              <a:rPr lang="es-CO" sz="2400">
                <a:ea typeface="+mn-lt"/>
                <a:cs typeface="+mn-lt"/>
              </a:rPr>
              <a:t>Con el software en funcionamiento, el cliente espera tener una gestión mucho más ordenada y eficiente de las reservas. Para dejar atrás el desorden de las hojas, las llamadas y los mensajes sueltos. Busca ahorrar tiempo, reducir errores, evitar conflictos entre vecinos y ofrecer a los residentes una forma rápida, clara e intuitiva de separar los espacios desde cualquier dispositivo.</a:t>
            </a:r>
            <a:endParaRPr lang="es-CO" sz="2400"/>
          </a:p>
          <a:p>
            <a:endParaRPr lang="es-CO"/>
          </a:p>
        </p:txBody>
      </p:sp>
    </p:spTree>
    <p:extLst>
      <p:ext uri="{BB962C8B-B14F-4D97-AF65-F5344CB8AC3E}">
        <p14:creationId xmlns:p14="http://schemas.microsoft.com/office/powerpoint/2010/main" val="3929618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B2B970-207E-4212-BD05-A91F69BAB272}"/>
              </a:ext>
            </a:extLst>
          </p:cNvPr>
          <p:cNvSpPr>
            <a:spLocks noGrp="1"/>
          </p:cNvSpPr>
          <p:nvPr>
            <p:ph type="title"/>
          </p:nvPr>
        </p:nvSpPr>
        <p:spPr>
          <a:xfrm>
            <a:off x="677335" y="609600"/>
            <a:ext cx="8596668" cy="665018"/>
          </a:xfrm>
        </p:spPr>
        <p:txBody>
          <a:bodyPr>
            <a:normAutofit fontScale="90000"/>
          </a:bodyPr>
          <a:lstStyle/>
          <a:p>
            <a:r>
              <a:rPr lang="es-CO"/>
              <a:t>¿Cuáles son los retos del proyecto?</a:t>
            </a:r>
          </a:p>
        </p:txBody>
      </p:sp>
      <p:sp>
        <p:nvSpPr>
          <p:cNvPr id="3" name="Subtítulo 2">
            <a:extLst>
              <a:ext uri="{FF2B5EF4-FFF2-40B4-BE49-F238E27FC236}">
                <a16:creationId xmlns:a16="http://schemas.microsoft.com/office/drawing/2014/main" id="{9FB690C5-F234-4EAD-941D-3013527615E3}"/>
              </a:ext>
            </a:extLst>
          </p:cNvPr>
          <p:cNvSpPr>
            <a:spLocks noGrp="1"/>
          </p:cNvSpPr>
          <p:nvPr>
            <p:ph type="body" idx="1"/>
          </p:nvPr>
        </p:nvSpPr>
        <p:spPr>
          <a:xfrm>
            <a:off x="677335" y="1267035"/>
            <a:ext cx="8596668" cy="6231896"/>
          </a:xfrm>
        </p:spPr>
        <p:txBody>
          <a:bodyPr vert="horz" lIns="91440" tIns="45720" rIns="91440" bIns="45720" rtlCol="0" anchor="ctr">
            <a:noAutofit/>
          </a:bodyPr>
          <a:lstStyle/>
          <a:p>
            <a:r>
              <a:rPr lang="es-CO" sz="2400" b="1"/>
              <a:t>Técnicos</a:t>
            </a:r>
            <a:endParaRPr lang="es-ES" sz="2400" b="1"/>
          </a:p>
          <a:p>
            <a:pPr marL="285750" indent="-285750">
              <a:buFont typeface="Wingdings" charset="2"/>
              <a:buChar char="q"/>
            </a:pPr>
            <a:r>
              <a:rPr lang="es-CO" sz="2000"/>
              <a:t>Crear un sistema intuitivo y funcional</a:t>
            </a:r>
          </a:p>
          <a:p>
            <a:pPr marL="285750" indent="-285750">
              <a:buFont typeface="Wingdings" charset="2"/>
              <a:buChar char="q"/>
            </a:pPr>
            <a:r>
              <a:rPr lang="es-CO" sz="2000"/>
              <a:t>Que no solo se limite en la página web sino que se adapte a los teléfonos móviles</a:t>
            </a:r>
          </a:p>
          <a:p>
            <a:pPr marL="285750" indent="-285750">
              <a:buFont typeface="Wingdings" charset="2"/>
              <a:buChar char="q"/>
            </a:pPr>
            <a:r>
              <a:rPr lang="es-CO" sz="2000"/>
              <a:t>Que el proyecto sea escalable y no se estanque</a:t>
            </a:r>
          </a:p>
          <a:p>
            <a:pPr marL="285750" indent="-285750">
              <a:buFont typeface="Wingdings" charset="2"/>
              <a:buChar char="q"/>
            </a:pPr>
            <a:r>
              <a:rPr lang="es-CO" sz="2000"/>
              <a:t>Evitar el </a:t>
            </a:r>
            <a:r>
              <a:rPr lang="es-CO" sz="2000" err="1"/>
              <a:t>Code</a:t>
            </a:r>
            <a:r>
              <a:rPr lang="es-CO" sz="2000"/>
              <a:t> </a:t>
            </a:r>
            <a:r>
              <a:rPr lang="es-CO" sz="2000" err="1"/>
              <a:t>Smells</a:t>
            </a:r>
            <a:r>
              <a:rPr lang="es-CO" sz="2000"/>
              <a:t> o problemas de lógica</a:t>
            </a:r>
          </a:p>
          <a:p>
            <a:pPr algn="ctr"/>
            <a:endParaRPr lang="es-CO" sz="2000"/>
          </a:p>
          <a:p>
            <a:r>
              <a:rPr lang="es-CO" sz="2400" b="1"/>
              <a:t>Personales</a:t>
            </a:r>
          </a:p>
          <a:p>
            <a:pPr marL="285750" indent="-285750">
              <a:buFont typeface="Wingdings" charset="2"/>
              <a:buChar char="q"/>
            </a:pPr>
            <a:r>
              <a:rPr lang="es-CO" sz="2000"/>
              <a:t>Organización del tiempo </a:t>
            </a:r>
          </a:p>
          <a:p>
            <a:pPr marL="285750" indent="-285750">
              <a:buFont typeface="Wingdings" charset="2"/>
              <a:buChar char="q"/>
            </a:pPr>
            <a:r>
              <a:rPr lang="es-CO" sz="2000"/>
              <a:t>Ambiciones </a:t>
            </a:r>
          </a:p>
          <a:p>
            <a:pPr marL="285750" indent="-285750">
              <a:buFont typeface="Wingdings" charset="2"/>
              <a:buChar char="q"/>
            </a:pPr>
            <a:r>
              <a:rPr lang="es-CO" sz="2000"/>
              <a:t>Disponibilidad del grupo </a:t>
            </a:r>
          </a:p>
          <a:p>
            <a:pPr marL="285750" indent="-285750">
              <a:buFont typeface="Wingdings" charset="2"/>
              <a:buChar char="q"/>
            </a:pPr>
            <a:r>
              <a:rPr lang="es-CO" sz="2000"/>
              <a:t>Toma de decisiones</a:t>
            </a:r>
          </a:p>
          <a:p>
            <a:pPr marL="285750" indent="-285750">
              <a:buFont typeface="Wingdings" charset="2"/>
              <a:buChar char="q"/>
            </a:pPr>
            <a:r>
              <a:rPr lang="es-CO" sz="2000"/>
              <a:t>Adaptabilidad</a:t>
            </a:r>
          </a:p>
          <a:p>
            <a:endParaRPr lang="es-CO"/>
          </a:p>
          <a:p>
            <a:endParaRPr lang="es-CO"/>
          </a:p>
        </p:txBody>
      </p:sp>
    </p:spTree>
    <p:extLst>
      <p:ext uri="{BB962C8B-B14F-4D97-AF65-F5344CB8AC3E}">
        <p14:creationId xmlns:p14="http://schemas.microsoft.com/office/powerpoint/2010/main" val="3916626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B2B970-207E-4212-BD05-A91F69BAB272}"/>
              </a:ext>
            </a:extLst>
          </p:cNvPr>
          <p:cNvSpPr>
            <a:spLocks noGrp="1"/>
          </p:cNvSpPr>
          <p:nvPr>
            <p:ph type="title"/>
          </p:nvPr>
        </p:nvSpPr>
        <p:spPr>
          <a:xfrm>
            <a:off x="677334" y="609600"/>
            <a:ext cx="9659361" cy="665018"/>
          </a:xfrm>
        </p:spPr>
        <p:txBody>
          <a:bodyPr>
            <a:normAutofit fontScale="90000"/>
          </a:bodyPr>
          <a:lstStyle/>
          <a:p>
            <a:r>
              <a:rPr lang="es-CO"/>
              <a:t>¿Cuáles son las principales funcionalidades que tendrá el producto?</a:t>
            </a:r>
          </a:p>
        </p:txBody>
      </p:sp>
      <p:sp>
        <p:nvSpPr>
          <p:cNvPr id="3" name="Subtítulo 2">
            <a:extLst>
              <a:ext uri="{FF2B5EF4-FFF2-40B4-BE49-F238E27FC236}">
                <a16:creationId xmlns:a16="http://schemas.microsoft.com/office/drawing/2014/main" id="{9FB690C5-F234-4EAD-941D-3013527615E3}"/>
              </a:ext>
            </a:extLst>
          </p:cNvPr>
          <p:cNvSpPr>
            <a:spLocks noGrp="1"/>
          </p:cNvSpPr>
          <p:nvPr>
            <p:ph type="body" idx="1"/>
          </p:nvPr>
        </p:nvSpPr>
        <p:spPr>
          <a:xfrm>
            <a:off x="423335" y="1438465"/>
            <a:ext cx="9910841" cy="5629941"/>
          </a:xfrm>
        </p:spPr>
        <p:txBody>
          <a:bodyPr vert="horz" lIns="91440" tIns="45720" rIns="91440" bIns="45720" rtlCol="0" anchor="ctr">
            <a:noAutofit/>
          </a:bodyPr>
          <a:lstStyle/>
          <a:p>
            <a:r>
              <a:rPr lang="es-CO" sz="2400"/>
              <a:t>Las principales funcionales de VICTUS residencias serán:</a:t>
            </a:r>
          </a:p>
          <a:p>
            <a:pPr marL="285750" indent="-285750">
              <a:buFont typeface="Wingdings" charset="2"/>
              <a:buChar char="ü"/>
            </a:pPr>
            <a:r>
              <a:rPr lang="es-CO" sz="2400"/>
              <a:t>Registro y administración de usuarios: residentes, administradores y porteros</a:t>
            </a:r>
          </a:p>
          <a:p>
            <a:pPr marL="285750" indent="-285750">
              <a:buFont typeface="Wingdings" charset="2"/>
              <a:buChar char="ü"/>
            </a:pPr>
            <a:r>
              <a:rPr lang="es-CO" sz="2400"/>
              <a:t>Gestión de espacios: residencias, viviendas y zonas comunes ( incluyendo horarios y normas )</a:t>
            </a:r>
          </a:p>
          <a:p>
            <a:pPr marL="285750" indent="-285750">
              <a:buFont typeface="Wingdings" charset="2"/>
              <a:buChar char="ü"/>
            </a:pPr>
            <a:r>
              <a:rPr lang="es-CO" sz="2400"/>
              <a:t>Agenda de reservas interactivas: permite configurar turnos, evitar solapamientos y definir límites de uso </a:t>
            </a:r>
          </a:p>
          <a:p>
            <a:pPr marL="285750" indent="-285750">
              <a:buFont typeface="Wingdings" charset="2"/>
              <a:buChar char="ü"/>
            </a:pPr>
            <a:r>
              <a:rPr lang="es-CO" sz="2400"/>
              <a:t>Sistema de reservas: reservas en tiempo real. Con confirmación, cancelaciones y bloqueos por parte de un administrador </a:t>
            </a:r>
          </a:p>
          <a:p>
            <a:pPr marL="285750" indent="-285750">
              <a:buFont typeface="Wingdings" charset="2"/>
              <a:buChar char="ü"/>
            </a:pPr>
            <a:r>
              <a:rPr lang="es-CO" sz="2400"/>
              <a:t>Notificaciones: serán automáticas y reportes detallados, mejorando la comunicación y la toma de alguna decisión</a:t>
            </a:r>
          </a:p>
          <a:p>
            <a:pPr marL="285750" indent="-285750">
              <a:buFont typeface="Wingdings" charset="2"/>
              <a:buChar char="ü"/>
            </a:pPr>
            <a:endParaRPr lang="es-CO"/>
          </a:p>
        </p:txBody>
      </p:sp>
    </p:spTree>
    <p:extLst>
      <p:ext uri="{BB962C8B-B14F-4D97-AF65-F5344CB8AC3E}">
        <p14:creationId xmlns:p14="http://schemas.microsoft.com/office/powerpoint/2010/main" val="4212688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0BE40E3-5550-4CDD-B4FD-387C33EBF1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71A6B738-E50C-4653-B343-B9D6A5EA2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98768D6-B28C-40A3-B381-39306F5816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B27C15B9-7795-4321-AB30-DF1DEF65C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578EC957-1F3F-4C00-B023-C8725C217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3D642632-BBD5-46D6-A91D-9B2BF6821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BF9D518D-AFF5-4DE2-AEE2-0EC15479A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14EF979B-B00D-460C-BD56-7EEAFB7E0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3E40F9A1-6B82-400F-9397-26D1D36F1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2EF7DDF1-FF86-4CA4-B08B-8939557EB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6D7C1F89-72B2-4FDC-B9E2-04F52D5C5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0EB2B970-207E-4212-BD05-A91F69BAB272}"/>
              </a:ext>
            </a:extLst>
          </p:cNvPr>
          <p:cNvSpPr>
            <a:spLocks noGrp="1"/>
          </p:cNvSpPr>
          <p:nvPr>
            <p:ph type="title"/>
          </p:nvPr>
        </p:nvSpPr>
        <p:spPr>
          <a:xfrm>
            <a:off x="5536734" y="609600"/>
            <a:ext cx="3737268" cy="1320800"/>
          </a:xfrm>
        </p:spPr>
        <p:txBody>
          <a:bodyPr vert="horz" lIns="91440" tIns="45720" rIns="91440" bIns="45720" rtlCol="0" anchor="t">
            <a:normAutofit/>
          </a:bodyPr>
          <a:lstStyle/>
          <a:p>
            <a:pPr>
              <a:lnSpc>
                <a:spcPct val="90000"/>
              </a:lnSpc>
            </a:pPr>
            <a:r>
              <a:rPr lang="en-US" sz="2800"/>
              <a:t>¿Qué tipo de producto se construirá?</a:t>
            </a:r>
          </a:p>
        </p:txBody>
      </p:sp>
      <p:sp>
        <p:nvSpPr>
          <p:cNvPr id="3" name="Subtítulo 2">
            <a:extLst>
              <a:ext uri="{FF2B5EF4-FFF2-40B4-BE49-F238E27FC236}">
                <a16:creationId xmlns:a16="http://schemas.microsoft.com/office/drawing/2014/main" id="{9FB690C5-F234-4EAD-941D-3013527615E3}"/>
              </a:ext>
            </a:extLst>
          </p:cNvPr>
          <p:cNvSpPr>
            <a:spLocks noGrp="1"/>
          </p:cNvSpPr>
          <p:nvPr>
            <p:ph type="body" idx="1"/>
          </p:nvPr>
        </p:nvSpPr>
        <p:spPr>
          <a:xfrm>
            <a:off x="5209563" y="2160589"/>
            <a:ext cx="4064439" cy="3880773"/>
          </a:xfrm>
        </p:spPr>
        <p:txBody>
          <a:bodyPr vert="horz" lIns="91440" tIns="45720" rIns="91440" bIns="45720" rtlCol="0">
            <a:normAutofit/>
          </a:bodyPr>
          <a:lstStyle/>
          <a:p>
            <a:pPr>
              <a:buFont typeface="Wingdings 3" charset="2"/>
              <a:buChar char=""/>
            </a:pPr>
            <a:r>
              <a:rPr lang="en-US" sz="1700"/>
              <a:t>El producto que se construirá será mixto, con su versión web y móvil, con el fin de poder garantizar una mayor accesibilidad y facilitar la interacción tanto de los clientes como de los administradores, sin tener la limitación de un dispositivo único.</a:t>
            </a:r>
          </a:p>
          <a:p>
            <a:pPr>
              <a:buFont typeface="Wingdings 3" charset="2"/>
              <a:buChar char=""/>
            </a:pPr>
            <a:endParaRPr lang="en-US" sz="1700"/>
          </a:p>
          <a:p>
            <a:pPr>
              <a:buFont typeface="Wingdings 3" charset="2"/>
              <a:buChar char=""/>
            </a:pPr>
            <a:r>
              <a:rPr lang="en-US" sz="1700"/>
              <a:t>Esta decisión responde a la necesidad de adaptabilidad en diferentes plataformas, asegurando una experiencia al usuario satisfactoria y continua sin importar el dispositivo </a:t>
            </a:r>
          </a:p>
        </p:txBody>
      </p:sp>
      <p:pic>
        <p:nvPicPr>
          <p:cNvPr id="4" name="Imagen 3" descr="Imagen generada">
            <a:extLst>
              <a:ext uri="{FF2B5EF4-FFF2-40B4-BE49-F238E27FC236}">
                <a16:creationId xmlns:a16="http://schemas.microsoft.com/office/drawing/2014/main" id="{42ED3BEC-BAE0-3B68-5C8A-FA533D0BFCE0}"/>
              </a:ext>
            </a:extLst>
          </p:cNvPr>
          <p:cNvPicPr>
            <a:picLocks noChangeAspect="1"/>
          </p:cNvPicPr>
          <p:nvPr/>
        </p:nvPicPr>
        <p:blipFill>
          <a:blip r:embed="rId2"/>
          <a:srcRect l="10572" r="10761"/>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1" name="Isosceles Triangle 2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670637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B2B970-207E-4212-BD05-A91F69BAB272}"/>
              </a:ext>
            </a:extLst>
          </p:cNvPr>
          <p:cNvSpPr>
            <a:spLocks noGrp="1"/>
          </p:cNvSpPr>
          <p:nvPr>
            <p:ph type="title"/>
          </p:nvPr>
        </p:nvSpPr>
        <p:spPr>
          <a:xfrm>
            <a:off x="677334" y="609600"/>
            <a:ext cx="9659361" cy="665018"/>
          </a:xfrm>
        </p:spPr>
        <p:txBody>
          <a:bodyPr>
            <a:normAutofit fontScale="90000"/>
          </a:bodyPr>
          <a:lstStyle/>
          <a:p>
            <a:r>
              <a:rPr lang="es-CO"/>
              <a:t>¿Existen condiciones o restricciones técnicas especiales?</a:t>
            </a:r>
          </a:p>
        </p:txBody>
      </p:sp>
      <p:sp>
        <p:nvSpPr>
          <p:cNvPr id="3" name="Subtítulo 2">
            <a:extLst>
              <a:ext uri="{FF2B5EF4-FFF2-40B4-BE49-F238E27FC236}">
                <a16:creationId xmlns:a16="http://schemas.microsoft.com/office/drawing/2014/main" id="{9FB690C5-F234-4EAD-941D-3013527615E3}"/>
              </a:ext>
            </a:extLst>
          </p:cNvPr>
          <p:cNvSpPr>
            <a:spLocks noGrp="1"/>
          </p:cNvSpPr>
          <p:nvPr>
            <p:ph type="body" idx="1"/>
          </p:nvPr>
        </p:nvSpPr>
        <p:spPr>
          <a:xfrm>
            <a:off x="677335" y="1537855"/>
            <a:ext cx="8596668" cy="4503507"/>
          </a:xfrm>
        </p:spPr>
        <p:txBody>
          <a:bodyPr/>
          <a:lstStyle/>
          <a:p>
            <a:r>
              <a:rPr lang="es-CO" sz="2400" dirty="0">
                <a:ea typeface="+mn-lt"/>
                <a:cs typeface="+mn-lt"/>
              </a:rPr>
              <a:t>Se utilizarán </a:t>
            </a:r>
            <a:r>
              <a:rPr lang="es-CO" sz="2400" b="1" dirty="0">
                <a:ea typeface="+mn-lt"/>
                <a:cs typeface="+mn-lt"/>
              </a:rPr>
              <a:t>tecnologías web modernas</a:t>
            </a:r>
            <a:r>
              <a:rPr lang="es-CO" sz="2400" dirty="0">
                <a:ea typeface="+mn-lt"/>
                <a:cs typeface="+mn-lt"/>
              </a:rPr>
              <a:t> para desarrollar una </a:t>
            </a:r>
            <a:r>
              <a:rPr lang="es-CO" sz="2400" b="1" dirty="0">
                <a:ea typeface="+mn-lt"/>
                <a:cs typeface="+mn-lt"/>
              </a:rPr>
              <a:t>aplicación responsive</a:t>
            </a:r>
            <a:r>
              <a:rPr lang="es-CO" sz="2400" dirty="0">
                <a:ea typeface="+mn-lt"/>
                <a:cs typeface="+mn-lt"/>
              </a:rPr>
              <a:t>, con una </a:t>
            </a:r>
            <a:r>
              <a:rPr lang="es-CO" sz="2400" b="1" dirty="0">
                <a:ea typeface="+mn-lt"/>
                <a:cs typeface="+mn-lt"/>
              </a:rPr>
              <a:t>base de datos escalable</a:t>
            </a:r>
            <a:r>
              <a:rPr lang="es-CO" sz="2400" dirty="0">
                <a:ea typeface="+mn-lt"/>
                <a:cs typeface="+mn-lt"/>
              </a:rPr>
              <a:t> y una </a:t>
            </a:r>
            <a:r>
              <a:rPr lang="es-CO" sz="2400" b="1" dirty="0">
                <a:ea typeface="+mn-lt"/>
                <a:cs typeface="+mn-lt"/>
              </a:rPr>
              <a:t>API confiable para pagos en Colombia</a:t>
            </a:r>
            <a:r>
              <a:rPr lang="es-CO" sz="2400" dirty="0">
                <a:ea typeface="+mn-lt"/>
                <a:cs typeface="+mn-lt"/>
              </a:rPr>
              <a:t>, como </a:t>
            </a:r>
            <a:r>
              <a:rPr lang="es-CO" sz="2400" b="1" dirty="0" err="1">
                <a:ea typeface="+mn-lt"/>
                <a:cs typeface="+mn-lt"/>
              </a:rPr>
              <a:t>Wompi</a:t>
            </a:r>
            <a:r>
              <a:rPr lang="es-CO" sz="2400" dirty="0">
                <a:ea typeface="+mn-lt"/>
                <a:cs typeface="+mn-lt"/>
              </a:rPr>
              <a:t>. Además, se integrarán </a:t>
            </a:r>
            <a:r>
              <a:rPr lang="es-CO" sz="2400" b="1" dirty="0" err="1">
                <a:ea typeface="+mn-lt"/>
                <a:cs typeface="+mn-lt"/>
              </a:rPr>
              <a:t>APIs</a:t>
            </a:r>
            <a:r>
              <a:rPr lang="es-CO" sz="2400" b="1" dirty="0">
                <a:ea typeface="+mn-lt"/>
                <a:cs typeface="+mn-lt"/>
              </a:rPr>
              <a:t> existentes para la gestión de agendas y notificaciones</a:t>
            </a:r>
            <a:r>
              <a:rPr lang="es-CO" sz="2400" dirty="0">
                <a:ea typeface="+mn-lt"/>
                <a:cs typeface="+mn-lt"/>
              </a:rPr>
              <a:t>, como </a:t>
            </a:r>
            <a:r>
              <a:rPr lang="es-CO" sz="2400" b="1" dirty="0">
                <a:ea typeface="+mn-lt"/>
                <a:cs typeface="+mn-lt"/>
              </a:rPr>
              <a:t>Google Calendar</a:t>
            </a:r>
            <a:r>
              <a:rPr lang="es-CO" sz="2400" dirty="0">
                <a:ea typeface="+mn-lt"/>
                <a:cs typeface="+mn-lt"/>
              </a:rPr>
              <a:t>, garantizando una experiencia fluida, segura y fácil de expandir con nuevas funcionalidades.</a:t>
            </a:r>
            <a:endParaRPr lang="en-US" dirty="0">
              <a:ea typeface="+mn-lt"/>
              <a:cs typeface="+mn-lt"/>
            </a:endParaRPr>
          </a:p>
        </p:txBody>
      </p:sp>
    </p:spTree>
    <p:extLst>
      <p:ext uri="{BB962C8B-B14F-4D97-AF65-F5344CB8AC3E}">
        <p14:creationId xmlns:p14="http://schemas.microsoft.com/office/powerpoint/2010/main" val="3758969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B2B970-207E-4212-BD05-A91F69BAB272}"/>
              </a:ext>
            </a:extLst>
          </p:cNvPr>
          <p:cNvSpPr>
            <a:spLocks noGrp="1"/>
          </p:cNvSpPr>
          <p:nvPr>
            <p:ph type="title"/>
          </p:nvPr>
        </p:nvSpPr>
        <p:spPr>
          <a:xfrm>
            <a:off x="677334" y="609600"/>
            <a:ext cx="9659361" cy="665018"/>
          </a:xfrm>
        </p:spPr>
        <p:txBody>
          <a:bodyPr>
            <a:normAutofit fontScale="90000"/>
          </a:bodyPr>
          <a:lstStyle/>
          <a:p>
            <a:r>
              <a:rPr lang="es-CO"/>
              <a:t>¿Existen condiciones o restricciones de negocio especiales?</a:t>
            </a:r>
          </a:p>
        </p:txBody>
      </p:sp>
      <p:sp>
        <p:nvSpPr>
          <p:cNvPr id="3" name="Subtítulo 2">
            <a:extLst>
              <a:ext uri="{FF2B5EF4-FFF2-40B4-BE49-F238E27FC236}">
                <a16:creationId xmlns:a16="http://schemas.microsoft.com/office/drawing/2014/main" id="{9FB690C5-F234-4EAD-941D-3013527615E3}"/>
              </a:ext>
            </a:extLst>
          </p:cNvPr>
          <p:cNvSpPr>
            <a:spLocks noGrp="1"/>
          </p:cNvSpPr>
          <p:nvPr>
            <p:ph type="body" idx="1"/>
          </p:nvPr>
        </p:nvSpPr>
        <p:spPr>
          <a:xfrm>
            <a:off x="677335" y="1968550"/>
            <a:ext cx="8596668" cy="3918203"/>
          </a:xfrm>
        </p:spPr>
        <p:txBody>
          <a:bodyPr>
            <a:normAutofit/>
          </a:bodyPr>
          <a:lstStyle/>
          <a:p>
            <a:r>
              <a:rPr lang="es-CO" sz="2400">
                <a:ea typeface="+mn-lt"/>
                <a:cs typeface="+mn-lt"/>
              </a:rPr>
              <a:t>El proyecto debe desarrollarse en </a:t>
            </a:r>
            <a:r>
              <a:rPr lang="es-CO" sz="2400" b="1">
                <a:ea typeface="+mn-lt"/>
                <a:cs typeface="+mn-lt"/>
              </a:rPr>
              <a:t>4 a 6 meses</a:t>
            </a:r>
            <a:r>
              <a:rPr lang="es-CO" sz="2400">
                <a:ea typeface="+mn-lt"/>
                <a:cs typeface="+mn-lt"/>
              </a:rPr>
              <a:t>, con recursos limitados y sin presupuesto asignado, usando servicios gratuitos como Render y </a:t>
            </a:r>
            <a:r>
              <a:rPr lang="es-CO" sz="2400" err="1">
                <a:ea typeface="+mn-lt"/>
                <a:cs typeface="+mn-lt"/>
              </a:rPr>
              <a:t>Netlify</a:t>
            </a:r>
            <a:r>
              <a:rPr lang="es-CO" sz="2400">
                <a:ea typeface="+mn-lt"/>
                <a:cs typeface="+mn-lt"/>
              </a:rPr>
              <a:t>. Su alcance se centra en la </a:t>
            </a:r>
            <a:r>
              <a:rPr lang="es-CO" sz="2400" b="1">
                <a:ea typeface="+mn-lt"/>
                <a:cs typeface="+mn-lt"/>
              </a:rPr>
              <a:t>gestión de reservas y administración de conjuntos</a:t>
            </a:r>
            <a:r>
              <a:rPr lang="es-CO" sz="2400">
                <a:ea typeface="+mn-lt"/>
                <a:cs typeface="+mn-lt"/>
              </a:rPr>
              <a:t>, dejando fuera pagos en línea u otras integraciones, por lo que se priorizarán las funcionalidades críticas y entregas iterativas.</a:t>
            </a:r>
            <a:endParaRPr lang="es-CO"/>
          </a:p>
        </p:txBody>
      </p:sp>
    </p:spTree>
    <p:extLst>
      <p:ext uri="{BB962C8B-B14F-4D97-AF65-F5344CB8AC3E}">
        <p14:creationId xmlns:p14="http://schemas.microsoft.com/office/powerpoint/2010/main" val="160158305"/>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B2B970-207E-4212-BD05-A91F69BAB272}"/>
              </a:ext>
            </a:extLst>
          </p:cNvPr>
          <p:cNvSpPr>
            <a:spLocks noGrp="1"/>
          </p:cNvSpPr>
          <p:nvPr>
            <p:ph type="title"/>
          </p:nvPr>
        </p:nvSpPr>
        <p:spPr>
          <a:xfrm>
            <a:off x="720466" y="753373"/>
            <a:ext cx="9616229" cy="521245"/>
          </a:xfrm>
        </p:spPr>
        <p:txBody>
          <a:bodyPr>
            <a:normAutofit fontScale="90000"/>
          </a:bodyPr>
          <a:lstStyle/>
          <a:p>
            <a:r>
              <a:rPr lang="es-CO"/>
              <a:t>¿Existen otras condiciones o restricciones que se deban tener en cuenta?</a:t>
            </a:r>
          </a:p>
        </p:txBody>
      </p:sp>
      <p:sp>
        <p:nvSpPr>
          <p:cNvPr id="3" name="Subtítulo 2">
            <a:extLst>
              <a:ext uri="{FF2B5EF4-FFF2-40B4-BE49-F238E27FC236}">
                <a16:creationId xmlns:a16="http://schemas.microsoft.com/office/drawing/2014/main" id="{9FB690C5-F234-4EAD-941D-3013527615E3}"/>
              </a:ext>
            </a:extLst>
          </p:cNvPr>
          <p:cNvSpPr>
            <a:spLocks noGrp="1"/>
          </p:cNvSpPr>
          <p:nvPr>
            <p:ph type="body" idx="1"/>
          </p:nvPr>
        </p:nvSpPr>
        <p:spPr>
          <a:xfrm>
            <a:off x="677335" y="1537855"/>
            <a:ext cx="8596668" cy="4503507"/>
          </a:xfrm>
        </p:spPr>
        <p:txBody>
          <a:bodyPr/>
          <a:lstStyle/>
          <a:p>
            <a:r>
              <a:rPr lang="es-CO" sz="2400">
                <a:ea typeface="+mn-lt"/>
                <a:cs typeface="+mn-lt"/>
              </a:rPr>
              <a:t>Otra condición importante es que el desarrollo debe enfocarse en un </a:t>
            </a:r>
            <a:r>
              <a:rPr lang="es-CO" sz="2400" b="1">
                <a:ea typeface="+mn-lt"/>
                <a:cs typeface="+mn-lt"/>
              </a:rPr>
              <a:t>producto mínimamente viable (MVP)</a:t>
            </a:r>
            <a:r>
              <a:rPr lang="es-CO" sz="2400">
                <a:ea typeface="+mn-lt"/>
                <a:cs typeface="+mn-lt"/>
              </a:rPr>
              <a:t> que incluya las funcionalidades críticas de gestión de reservas y administración básica, pero que a la vez esté diseñado para ser </a:t>
            </a:r>
            <a:r>
              <a:rPr lang="es-CO" sz="2400" b="1">
                <a:ea typeface="+mn-lt"/>
                <a:cs typeface="+mn-lt"/>
              </a:rPr>
              <a:t>escalable y permitir la incorporación de nuevas características en el futuro</a:t>
            </a:r>
            <a:r>
              <a:rPr lang="es-CO" sz="2400">
                <a:ea typeface="+mn-lt"/>
                <a:cs typeface="+mn-lt"/>
              </a:rPr>
              <a:t>. Además, se busca mantener </a:t>
            </a:r>
            <a:r>
              <a:rPr lang="es-CO" sz="2400" b="1">
                <a:ea typeface="+mn-lt"/>
                <a:cs typeface="+mn-lt"/>
              </a:rPr>
              <a:t>alta usabilidad y seguridad</a:t>
            </a:r>
            <a:r>
              <a:rPr lang="es-CO" sz="2400">
                <a:ea typeface="+mn-lt"/>
                <a:cs typeface="+mn-lt"/>
              </a:rPr>
              <a:t>, priorizando una arquitectura flexible que soporte la evolución del sistema sin generar retrabajo.</a:t>
            </a:r>
            <a:br>
              <a:rPr lang="es-CO" dirty="0"/>
            </a:br>
            <a:endParaRPr lang="es-CO" dirty="0"/>
          </a:p>
        </p:txBody>
      </p:sp>
    </p:spTree>
    <p:extLst>
      <p:ext uri="{BB962C8B-B14F-4D97-AF65-F5344CB8AC3E}">
        <p14:creationId xmlns:p14="http://schemas.microsoft.com/office/powerpoint/2010/main" val="664431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B2B970-207E-4212-BD05-A91F69BAB272}"/>
              </a:ext>
            </a:extLst>
          </p:cNvPr>
          <p:cNvSpPr>
            <a:spLocks noGrp="1"/>
          </p:cNvSpPr>
          <p:nvPr>
            <p:ph type="title"/>
          </p:nvPr>
        </p:nvSpPr>
        <p:spPr>
          <a:xfrm>
            <a:off x="677334" y="609600"/>
            <a:ext cx="9659361" cy="665018"/>
          </a:xfrm>
        </p:spPr>
        <p:txBody>
          <a:bodyPr>
            <a:normAutofit fontScale="90000"/>
          </a:bodyPr>
          <a:lstStyle/>
          <a:p>
            <a:r>
              <a:rPr lang="es-CO"/>
              <a:t>¿Se tienen los artefactos fruto del análisis del sistema? Mencione cuáles tiene</a:t>
            </a:r>
          </a:p>
        </p:txBody>
      </p:sp>
      <p:sp>
        <p:nvSpPr>
          <p:cNvPr id="3" name="Subtítulo 2">
            <a:extLst>
              <a:ext uri="{FF2B5EF4-FFF2-40B4-BE49-F238E27FC236}">
                <a16:creationId xmlns:a16="http://schemas.microsoft.com/office/drawing/2014/main" id="{9FB690C5-F234-4EAD-941D-3013527615E3}"/>
              </a:ext>
            </a:extLst>
          </p:cNvPr>
          <p:cNvSpPr>
            <a:spLocks noGrp="1"/>
          </p:cNvSpPr>
          <p:nvPr>
            <p:ph type="body" idx="1"/>
          </p:nvPr>
        </p:nvSpPr>
        <p:spPr>
          <a:xfrm>
            <a:off x="677335" y="2019707"/>
            <a:ext cx="8596668" cy="4021655"/>
          </a:xfrm>
        </p:spPr>
        <p:txBody>
          <a:bodyPr vert="horz" lIns="91440" tIns="45720" rIns="91440" bIns="45720" rtlCol="0" anchor="ctr">
            <a:noAutofit/>
          </a:bodyPr>
          <a:lstStyle/>
          <a:p>
            <a:r>
              <a:rPr lang="es-CO" sz="2400">
                <a:ea typeface="+mn-lt"/>
                <a:cs typeface="+mn-lt"/>
              </a:rPr>
              <a:t>El proyecto tiene </a:t>
            </a:r>
            <a:r>
              <a:rPr lang="es-CO" sz="2400" b="1">
                <a:ea typeface="+mn-lt"/>
                <a:cs typeface="+mn-lt"/>
              </a:rPr>
              <a:t>artefactos de análisis</a:t>
            </a:r>
            <a:r>
              <a:rPr lang="es-CO" sz="2400">
                <a:ea typeface="+mn-lt"/>
                <a:cs typeface="+mn-lt"/>
              </a:rPr>
              <a:t> como visión, roles, requisitos, PBI's, historias de usuario y plan de riesgos. Estos pueden gestionarse en </a:t>
            </a:r>
            <a:r>
              <a:rPr lang="es-CO" sz="2400" b="1">
                <a:ea typeface="+mn-lt"/>
                <a:cs typeface="+mn-lt"/>
              </a:rPr>
              <a:t>Azure DevOps</a:t>
            </a:r>
            <a:r>
              <a:rPr lang="es-CO" sz="2400">
                <a:ea typeface="+mn-lt"/>
                <a:cs typeface="+mn-lt"/>
              </a:rPr>
              <a:t> con backlog, </a:t>
            </a:r>
            <a:r>
              <a:rPr lang="es-CO" sz="2400" err="1">
                <a:ea typeface="+mn-lt"/>
                <a:cs typeface="+mn-lt"/>
              </a:rPr>
              <a:t>sprints</a:t>
            </a:r>
            <a:r>
              <a:rPr lang="es-CO" sz="2400">
                <a:ea typeface="+mn-lt"/>
                <a:cs typeface="+mn-lt"/>
              </a:rPr>
              <a:t> y tableros ágiles, aplicando los procesos aprendidos en Ingeniería de Software 1 para planificar y dar seguimiento al desarrollo.</a:t>
            </a:r>
            <a:endParaRPr lang="en-US" sz="2400">
              <a:ea typeface="+mn-lt"/>
              <a:cs typeface="+mn-lt"/>
            </a:endParaRPr>
          </a:p>
        </p:txBody>
      </p:sp>
    </p:spTree>
    <p:extLst>
      <p:ext uri="{BB962C8B-B14F-4D97-AF65-F5344CB8AC3E}">
        <p14:creationId xmlns:p14="http://schemas.microsoft.com/office/powerpoint/2010/main" val="4032862492"/>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3B631CC7BEC14C488D36763C05DC52A8" ma:contentTypeVersion="3" ma:contentTypeDescription="Crear nuevo documento." ma:contentTypeScope="" ma:versionID="533578de69a1d6271a7219c9e07ec3f5">
  <xsd:schema xmlns:xsd="http://www.w3.org/2001/XMLSchema" xmlns:xs="http://www.w3.org/2001/XMLSchema" xmlns:p="http://schemas.microsoft.com/office/2006/metadata/properties" xmlns:ns2="0b4d285e-6e48-4b6f-a96c-892847af302d" targetNamespace="http://schemas.microsoft.com/office/2006/metadata/properties" ma:root="true" ma:fieldsID="37fc6be9b5905dc7ab939efdab9862f6" ns2:_="">
    <xsd:import namespace="0b4d285e-6e48-4b6f-a96c-892847af302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4d285e-6e48-4b6f-a96c-892847af30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0AC7BF-5E69-4B16-934A-9E3D7EAB156C}">
  <ds:schemaRefs>
    <ds:schemaRef ds:uri="0b4d285e-6e48-4b6f-a96c-892847af302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67B4B44-8347-4B8B-AD82-D74C26CE4547}">
  <ds:schemaRefs>
    <ds:schemaRef ds:uri="0b4d285e-6e48-4b6f-a96c-892847af302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D2EB668-974C-46FB-A57B-0D8C2BFF7267}">
  <ds:schemaRefs>
    <ds:schemaRef ds:uri="http://schemas.microsoft.com/sharepoint/v3/contenttype/forms"/>
  </ds:schemaRefs>
</ds:datastoreItem>
</file>

<file path=docMetadata/LabelInfo.xml><?xml version="1.0" encoding="utf-8"?>
<clbl:labelList xmlns:clbl="http://schemas.microsoft.com/office/2020/mipLabelMetadata">
  <clbl:label id="{6ebbfa72-b3b6-4c1f-8b23-058d4f67f013}" enabled="1" method="Privileged" siteId="{bf1ce8b5-5d39-4bc5-ad6e-07b3e4d7d67a}" contentBits="0" removed="0"/>
</clbl:labelList>
</file>

<file path=docProps/app.xml><?xml version="1.0" encoding="utf-8"?>
<Properties xmlns="http://schemas.openxmlformats.org/officeDocument/2006/extended-properties" xmlns:vt="http://schemas.openxmlformats.org/officeDocument/2006/docPropsVTypes">
  <Template>Facet</Template>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Faceta</vt:lpstr>
      <vt:lpstr>Proyecto</vt:lpstr>
      <vt:lpstr>¿Cuál es el objetivo del proyecto?</vt:lpstr>
      <vt:lpstr>¿Cuál es el problema a resolver?</vt:lpstr>
      <vt:lpstr>¿Por qué un producto de software?</vt:lpstr>
      <vt:lpstr>¿Qué otros productos existen similares al producto a construir y por qué no seleccionar uno de ellos?</vt:lpstr>
      <vt:lpstr>¿Cuál es el público objetivo?</vt:lpstr>
      <vt:lpstr>¿Qué se sueña el cliente cuando el software esté funcionando?</vt:lpstr>
      <vt:lpstr>¿Cuáles son los retos del proyecto?</vt:lpstr>
      <vt:lpstr>¿Cuáles son las principales funcionalidades que tendrá el producto?</vt:lpstr>
      <vt:lpstr>¿Qué tipo de producto se construirá?</vt:lpstr>
      <vt:lpstr>¿Existen condiciones o restricciones técnicas especiales?</vt:lpstr>
      <vt:lpstr>¿Existen condiciones o restricciones de negocio especiales?</vt:lpstr>
      <vt:lpstr>¿Existen otras condiciones o restricciones que se deban tener en cuenta?</vt:lpstr>
      <vt:lpstr>¿Se tienen los artefactos fruto del análisis del sistema? Mencione cuáles tiene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Retrospectiva Proyecto</dc:title>
  <dc:creator>WIDER FARID SANCHEZ GARZON</dc:creator>
  <cp:revision>54</cp:revision>
  <dcterms:created xsi:type="dcterms:W3CDTF">2017-09-20T21:53:11Z</dcterms:created>
  <dcterms:modified xsi:type="dcterms:W3CDTF">2025-07-29T21:23:50Z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0x0101003B631CC7BEC14C488D36763C05DC52A8</vt:lpwstr>
  </property>
  <property fmtid="{D5CDD505-2E9C-101B-9397-08002B2CF9AE}" pid="3" name="Order">
    <vt:r8>7400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ies>
</file>